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Tuning</c:v>
                </c:pt>
              </c:strCache>
            </c:strRef>
          </c:tx>
          <c:spPr>
            <a:solidFill>
              <a:srgbClr val="B0B7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LogReg</c:v>
                  </c:pt>
                  <c:pt idx="1">
                    <c:v>KNN</c:v>
                  </c:pt>
                  <c:pt idx="2">
                    <c:v>NaiveB</c:v>
                  </c:pt>
                  <c:pt idx="3">
                    <c:v>DTree</c:v>
                  </c:pt>
                  <c:pt idx="4">
                    <c:v>RForest</c:v>
                  </c:pt>
                  <c:pt idx="5">
                    <c:v>SVM</c:v>
                  </c:pt>
                  <c:pt idx="6">
                    <c:v>GBoost</c:v>
                  </c:pt>
                  <c:pt idx="7">
                    <c:v>AdaBoost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0.265</c:v>
                </c:pt>
                <c:pt idx="1">
                  <c:v>0.16</c:v>
                </c:pt>
                <c:pt idx="2">
                  <c:v>0.127</c:v>
                </c:pt>
                <c:pt idx="3">
                  <c:v>0.846</c:v>
                </c:pt>
                <c:pt idx="4">
                  <c:v>0.952</c:v>
                </c:pt>
                <c:pt idx="5">
                  <c:v>0.435</c:v>
                </c:pt>
                <c:pt idx="6">
                  <c:v>0.533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Tuning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LogReg</c:v>
                  </c:pt>
                  <c:pt idx="1">
                    <c:v>KNN</c:v>
                  </c:pt>
                  <c:pt idx="2">
                    <c:v>NaiveB</c:v>
                  </c:pt>
                  <c:pt idx="3">
                    <c:v>DTree</c:v>
                  </c:pt>
                  <c:pt idx="4">
                    <c:v>RForest</c:v>
                  </c:pt>
                  <c:pt idx="5">
                    <c:v>SVM</c:v>
                  </c:pt>
                  <c:pt idx="6">
                    <c:v>GBoost</c:v>
                  </c:pt>
                  <c:pt idx="7">
                    <c:v>AdaBoost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0.277</c:v>
                </c:pt>
                <c:pt idx="1">
                  <c:v>0.927</c:v>
                </c:pt>
                <c:pt idx="2">
                  <c:v>0.127</c:v>
                </c:pt>
                <c:pt idx="3">
                  <c:v>0.846</c:v>
                </c:pt>
                <c:pt idx="4">
                  <c:v>0.952</c:v>
                </c:pt>
                <c:pt idx="5">
                  <c:v>0.435</c:v>
                </c:pt>
                <c:pt idx="6">
                  <c:v>0.927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ADF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F1-Score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Tuning</c:v>
                </c:pt>
              </c:strCache>
            </c:strRef>
          </c:tx>
          <c:spPr>
            <a:solidFill>
              <a:srgbClr val="B0B7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LogReg</c:v>
                  </c:pt>
                  <c:pt idx="1">
                    <c:v>KNN</c:v>
                  </c:pt>
                  <c:pt idx="2">
                    <c:v>NaiveB</c:v>
                  </c:pt>
                  <c:pt idx="3">
                    <c:v>DTree</c:v>
                  </c:pt>
                  <c:pt idx="4">
                    <c:v>RForest</c:v>
                  </c:pt>
                  <c:pt idx="5">
                    <c:v>SVM</c:v>
                  </c:pt>
                  <c:pt idx="6">
                    <c:v>GBoost</c:v>
                  </c:pt>
                  <c:pt idx="7">
                    <c:v>AdaBoost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0.987</c:v>
                </c:pt>
                <c:pt idx="1">
                  <c:v>0.998</c:v>
                </c:pt>
                <c:pt idx="2">
                  <c:v>0.981</c:v>
                </c:pt>
                <c:pt idx="3">
                  <c:v>0.998</c:v>
                </c:pt>
                <c:pt idx="4">
                  <c:v>0.998</c:v>
                </c:pt>
                <c:pt idx="5">
                  <c:v>0.982</c:v>
                </c:pt>
                <c:pt idx="6">
                  <c:v>0.999</c:v>
                </c:pt>
                <c:pt idx="7">
                  <c:v>0.999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Tuning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LogReg</c:v>
                  </c:pt>
                  <c:pt idx="1">
                    <c:v>KNN</c:v>
                  </c:pt>
                  <c:pt idx="2">
                    <c:v>NaiveB</c:v>
                  </c:pt>
                  <c:pt idx="3">
                    <c:v>DTree</c:v>
                  </c:pt>
                  <c:pt idx="4">
                    <c:v>RForest</c:v>
                  </c:pt>
                  <c:pt idx="5">
                    <c:v>SVM</c:v>
                  </c:pt>
                  <c:pt idx="6">
                    <c:v>GBoost</c:v>
                  </c:pt>
                  <c:pt idx="7">
                    <c:v>AdaBoost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0.988</c:v>
                </c:pt>
                <c:pt idx="1">
                  <c:v>0.998</c:v>
                </c:pt>
                <c:pt idx="2">
                  <c:v>0.981</c:v>
                </c:pt>
                <c:pt idx="3">
                  <c:v>0.998</c:v>
                </c:pt>
                <c:pt idx="4">
                  <c:v>0.999</c:v>
                </c:pt>
                <c:pt idx="5">
                  <c:v>0.995</c:v>
                </c:pt>
                <c:pt idx="6">
                  <c:v>0.999</c:v>
                </c:pt>
                <c:pt idx="7">
                  <c:v>0.999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ADF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F1-Score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Tuning</c:v>
                </c:pt>
              </c:strCache>
            </c:strRef>
          </c:tx>
          <c:spPr>
            <a:solidFill>
              <a:srgbClr val="B0B7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LogReg</c:v>
                  </c:pt>
                  <c:pt idx="1">
                    <c:v>KNN</c:v>
                  </c:pt>
                  <c:pt idx="2">
                    <c:v>NaiveB</c:v>
                  </c:pt>
                  <c:pt idx="3">
                    <c:v>DTree</c:v>
                  </c:pt>
                  <c:pt idx="4">
                    <c:v>RForest</c:v>
                  </c:pt>
                  <c:pt idx="5">
                    <c:v>SVM</c:v>
                  </c:pt>
                  <c:pt idx="6">
                    <c:v>GBoost</c:v>
                  </c:pt>
                  <c:pt idx="7">
                    <c:v>AdaBoost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0.886</c:v>
                </c:pt>
                <c:pt idx="1">
                  <c:v>0.882</c:v>
                </c:pt>
                <c:pt idx="2">
                  <c:v>0.871</c:v>
                </c:pt>
                <c:pt idx="3">
                  <c:v>0.808</c:v>
                </c:pt>
                <c:pt idx="4">
                  <c:v>0.903</c:v>
                </c:pt>
                <c:pt idx="5">
                  <c:v>0.896</c:v>
                </c:pt>
                <c:pt idx="6">
                  <c:v>0.892</c:v>
                </c:pt>
                <c:pt idx="7">
                  <c:v>0.896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Tuning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LogReg</c:v>
                  </c:pt>
                  <c:pt idx="1">
                    <c:v>KNN</c:v>
                  </c:pt>
                  <c:pt idx="2">
                    <c:v>NaiveB</c:v>
                  </c:pt>
                  <c:pt idx="3">
                    <c:v>DTree</c:v>
                  </c:pt>
                  <c:pt idx="4">
                    <c:v>RForest</c:v>
                  </c:pt>
                  <c:pt idx="5">
                    <c:v>SVM</c:v>
                  </c:pt>
                  <c:pt idx="6">
                    <c:v>GBoost</c:v>
                  </c:pt>
                  <c:pt idx="7">
                    <c:v>AdaBoost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0.894</c:v>
                </c:pt>
                <c:pt idx="1">
                  <c:v>0.886</c:v>
                </c:pt>
                <c:pt idx="2">
                  <c:v>0.871</c:v>
                </c:pt>
                <c:pt idx="3">
                  <c:v>0.843</c:v>
                </c:pt>
                <c:pt idx="4">
                  <c:v>0.889</c:v>
                </c:pt>
                <c:pt idx="5">
                  <c:v>0.896</c:v>
                </c:pt>
                <c:pt idx="6">
                  <c:v>0.892</c:v>
                </c:pt>
                <c:pt idx="7">
                  <c:v>0.902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ADF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F1-Score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Tuning</c:v>
                </c:pt>
              </c:strCache>
            </c:strRef>
          </c:tx>
          <c:spPr>
            <a:solidFill>
              <a:srgbClr val="B0B7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LogReg</c:v>
                  </c:pt>
                  <c:pt idx="1">
                    <c:v>KNN</c:v>
                  </c:pt>
                  <c:pt idx="2">
                    <c:v>NaiveB</c:v>
                  </c:pt>
                  <c:pt idx="3">
                    <c:v>DTree</c:v>
                  </c:pt>
                  <c:pt idx="4">
                    <c:v>RForest</c:v>
                  </c:pt>
                  <c:pt idx="5">
                    <c:v>SVM</c:v>
                  </c:pt>
                  <c:pt idx="6">
                    <c:v>GBoost</c:v>
                  </c:pt>
                  <c:pt idx="7">
                    <c:v>AdaBoost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0.414</c:v>
                </c:pt>
                <c:pt idx="1">
                  <c:v>0.133</c:v>
                </c:pt>
                <c:pt idx="2">
                  <c:v>0.41</c:v>
                </c:pt>
                <c:pt idx="3">
                  <c:v>0.157</c:v>
                </c:pt>
                <c:pt idx="4">
                  <c:v>0.122</c:v>
                </c:pt>
                <c:pt idx="5">
                  <c:v>0.408</c:v>
                </c:pt>
                <c:pt idx="6">
                  <c:v>0.022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Tuning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LogReg</c:v>
                  </c:pt>
                  <c:pt idx="1">
                    <c:v>KNN</c:v>
                  </c:pt>
                  <c:pt idx="2">
                    <c:v>NaiveB</c:v>
                  </c:pt>
                  <c:pt idx="3">
                    <c:v>DTree</c:v>
                  </c:pt>
                  <c:pt idx="4">
                    <c:v>RForest</c:v>
                  </c:pt>
                  <c:pt idx="5">
                    <c:v>SVM</c:v>
                  </c:pt>
                  <c:pt idx="6">
                    <c:v>GBoost</c:v>
                  </c:pt>
                  <c:pt idx="7">
                    <c:v>AdaBoost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0.414</c:v>
                </c:pt>
                <c:pt idx="1">
                  <c:v>0.138</c:v>
                </c:pt>
                <c:pt idx="2">
                  <c:v>0.41</c:v>
                </c:pt>
                <c:pt idx="3">
                  <c:v>0.38</c:v>
                </c:pt>
                <c:pt idx="4">
                  <c:v>0.406</c:v>
                </c:pt>
                <c:pt idx="5">
                  <c:v>0.408</c:v>
                </c:pt>
                <c:pt idx="6">
                  <c:v>0.134</c:v>
                </c:pt>
                <c:pt idx="7">
                  <c:v>0.029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ADF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F1-Score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Multi-Dataset Machine Learning</a:t>
            </a:r>
            <a:endParaRPr lang="en-US" sz="40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Project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657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real-world classification pipelines · 8 algorithms · Hyperparameter tuning · Streamlit deployment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75488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2A357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8646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475488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2A3574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48646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5440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each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475488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2A3574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48646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852160" y="5440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66760" y="475488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2A3574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48646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66760" y="5440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web 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classification pipelines, built with a consistent methodology so results are genuinely comparable.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Cervical Cancer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
</a:t>
            </a:r>
            <a:endParaRPr lang="en-US" sz="9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Biopsy: Positive / Negative
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
</a:t>
            </a:r>
            <a:endParaRPr lang="en-US" sz="9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1,670 patients · 16 features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4846320"/>
            <a:ext cx="2240280" cy="0"/>
          </a:xfrm>
          <a:prstGeom prst="line">
            <a:avLst/>
          </a:prstGeom>
          <a:noFill/>
          <a:ln w="12700">
            <a:solidFill>
              <a:srgbClr val="E3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9834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523036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F1 = 0.952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47288" y="169164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75888" y="196596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675888" y="1965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IoTNet24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75888" y="25420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75888" y="29718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
</a:t>
            </a:r>
            <a:endParaRPr lang="en-US" sz="9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/ Benign traffic
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
</a:t>
            </a:r>
            <a:endParaRPr lang="en-US" sz="9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6,130 connections · 16 features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75888" y="4846320"/>
            <a:ext cx="2240280" cy="0"/>
          </a:xfrm>
          <a:prstGeom prst="line">
            <a:avLst/>
          </a:prstGeom>
          <a:noFill/>
          <a:ln w="12700">
            <a:solidFill>
              <a:srgbClr val="E3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75888" y="49834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75888" y="523036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· F1 = 0.999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45936" y="169164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74536" y="196596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990011"/>
          </a:solidFill>
          <a:ln/>
        </p:spPr>
      </p:sp>
      <p:sp>
        <p:nvSpPr>
          <p:cNvPr id="22" name="Text 20"/>
          <p:cNvSpPr/>
          <p:nvPr/>
        </p:nvSpPr>
        <p:spPr>
          <a:xfrm>
            <a:off x="6574536" y="1965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Disease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74536" y="25420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Combined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74536" y="29718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
</a:t>
            </a:r>
            <a:endParaRPr lang="en-US" sz="9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/ Normal
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
</a:t>
            </a:r>
            <a:endParaRPr lang="en-US" sz="9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918 patients · 18 features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74536" y="4846320"/>
            <a:ext cx="2240280" cy="0"/>
          </a:xfrm>
          <a:prstGeom prst="line">
            <a:avLst/>
          </a:prstGeom>
          <a:noFill/>
          <a:ln w="12700">
            <a:solidFill>
              <a:srgbClr val="E3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74536" y="49834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74536" y="523036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F1 = 0.903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244584" y="169164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473184" y="196596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9473184" y="1965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FDA Adverse Events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473184" y="25420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&amp; Cardiology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473184" y="29718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
</a:t>
            </a:r>
            <a:endParaRPr lang="en-US" sz="9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/ Non-Fatal
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
</a:t>
            </a:r>
            <a:endParaRPr lang="en-US" sz="9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6,130 reports · 34 features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473184" y="4846320"/>
            <a:ext cx="2240280" cy="0"/>
          </a:xfrm>
          <a:prstGeom prst="line">
            <a:avLst/>
          </a:prstGeom>
          <a:noFill/>
          <a:ln w="12700">
            <a:solidFill>
              <a:srgbClr val="E3E6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73184" y="49834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473184" y="523036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F1 = 0.414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8 Algorithms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deliberately diverse set spanning five model families — so the comparison reveals something real, not eight variations of the same idea.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987552"/>
          </a:xfrm>
          <a:prstGeom prst="roundRect">
            <a:avLst>
              <a:gd name="adj" fmla="val 6481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37944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379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36192" y="17647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36192" y="207568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536192" y="22951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 baseline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5349240" cy="987552"/>
          </a:xfrm>
          <a:prstGeom prst="roundRect">
            <a:avLst>
              <a:gd name="adj" fmla="val 6481"/>
            </a:avLst>
          </a:prstGeom>
          <a:solidFill>
            <a:srgbClr val="F7F8FC"/>
          </a:solidFill>
          <a:ln/>
        </p:spPr>
      </p:sp>
      <p:sp>
        <p:nvSpPr>
          <p:cNvPr id="11" name="Shape 9"/>
          <p:cNvSpPr/>
          <p:nvPr/>
        </p:nvSpPr>
        <p:spPr>
          <a:xfrm>
            <a:off x="6291072" y="1837944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18379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14032" y="17647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14032" y="207568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14032" y="22951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local patterns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25496"/>
            <a:ext cx="5349240" cy="987552"/>
          </a:xfrm>
          <a:prstGeom prst="roundRect">
            <a:avLst>
              <a:gd name="adj" fmla="val 6481"/>
            </a:avLst>
          </a:prstGeom>
          <a:solidFill>
            <a:srgbClr val="F7F8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2971800"/>
            <a:ext cx="658368" cy="65836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2971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36192" y="289864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536192" y="32095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536192" y="34290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feature independence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2825496"/>
            <a:ext cx="5349240" cy="987552"/>
          </a:xfrm>
          <a:prstGeom prst="roundRect">
            <a:avLst>
              <a:gd name="adj" fmla="val 6481"/>
            </a:avLst>
          </a:prstGeom>
          <a:solidFill>
            <a:srgbClr val="F7F8FC"/>
          </a:solidFill>
          <a:ln/>
        </p:spPr>
      </p:sp>
      <p:sp>
        <p:nvSpPr>
          <p:cNvPr id="23" name="Shape 21"/>
          <p:cNvSpPr/>
          <p:nvPr/>
        </p:nvSpPr>
        <p:spPr>
          <a:xfrm>
            <a:off x="6291072" y="2971800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6291072" y="2971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14032" y="289864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114032" y="32095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114032" y="34290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Interpretable; overfitting baseline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959352"/>
            <a:ext cx="5349240" cy="987552"/>
          </a:xfrm>
          <a:prstGeom prst="roundRect">
            <a:avLst>
              <a:gd name="adj" fmla="val 6481"/>
            </a:avLst>
          </a:prstGeom>
          <a:solidFill>
            <a:srgbClr val="F7F8FC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105656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1056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536192" y="403250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536192" y="434340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(BAGGING)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536192" y="45628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Robust, averages many trees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959352"/>
            <a:ext cx="5349240" cy="987552"/>
          </a:xfrm>
          <a:prstGeom prst="roundRect">
            <a:avLst>
              <a:gd name="adj" fmla="val 6481"/>
            </a:avLst>
          </a:prstGeom>
          <a:solidFill>
            <a:srgbClr val="F7F8FC"/>
          </a:solidFill>
          <a:ln/>
        </p:spPr>
      </p:sp>
      <p:sp>
        <p:nvSpPr>
          <p:cNvPr id="35" name="Shape 33"/>
          <p:cNvSpPr/>
          <p:nvPr/>
        </p:nvSpPr>
        <p:spPr>
          <a:xfrm>
            <a:off x="6291072" y="4105656"/>
            <a:ext cx="658368" cy="65836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6" name="Text 34"/>
          <p:cNvSpPr/>
          <p:nvPr/>
        </p:nvSpPr>
        <p:spPr>
          <a:xfrm>
            <a:off x="6291072" y="41056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114032" y="403250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114032" y="434340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MARGIN-BASED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114032" y="45628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decision boundaries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093208"/>
            <a:ext cx="5349240" cy="987552"/>
          </a:xfrm>
          <a:prstGeom prst="roundRect">
            <a:avLst>
              <a:gd name="adj" fmla="val 6481"/>
            </a:avLst>
          </a:prstGeom>
          <a:solidFill>
            <a:srgbClr val="F7F8FC"/>
          </a:solidFill>
          <a:ln/>
        </p:spPr>
      </p:sp>
      <p:sp>
        <p:nvSpPr>
          <p:cNvPr id="41" name="Shape 39"/>
          <p:cNvSpPr/>
          <p:nvPr/>
        </p:nvSpPr>
        <p:spPr>
          <a:xfrm>
            <a:off x="713232" y="523951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" y="52395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536192" y="51663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536192" y="54772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(BOOSTING)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536192" y="56967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Sequentially corrects errors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26480" y="5093208"/>
            <a:ext cx="5349240" cy="987552"/>
          </a:xfrm>
          <a:prstGeom prst="roundRect">
            <a:avLst>
              <a:gd name="adj" fmla="val 6481"/>
            </a:avLst>
          </a:prstGeom>
          <a:solidFill>
            <a:srgbClr val="F7F8FC"/>
          </a:solidFill>
          <a:ln/>
        </p:spPr>
      </p:sp>
      <p:sp>
        <p:nvSpPr>
          <p:cNvPr id="47" name="Shape 45"/>
          <p:cNvSpPr/>
          <p:nvPr/>
        </p:nvSpPr>
        <p:spPr>
          <a:xfrm>
            <a:off x="6291072" y="5239512"/>
            <a:ext cx="658368" cy="65836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8" name="Text 46"/>
          <p:cNvSpPr/>
          <p:nvPr/>
        </p:nvSpPr>
        <p:spPr>
          <a:xfrm>
            <a:off x="6291072" y="52395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7114032" y="51663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7114032" y="54772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(BOOSTING)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114032" y="56967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boosting mechanism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— Why Not Just Accuracy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1887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 datasets had imbalanced targets — a model predicting only the majority class scores high accuracy while being useless. AdaBoost hit 93% accuracy with an F1-score of 0 on Cervical Cancer.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10312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7744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237744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all predictions correct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223760" y="237744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trustworthy when classes are balanced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210312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1868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321868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positives, how many were right?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0" y="321868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when false alarms are costly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059936"/>
            <a:ext cx="210312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5993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34640" y="405993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positives, how many were caught?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223760" y="4059936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when missing a case is dangerous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901184"/>
            <a:ext cx="2103120" cy="713232"/>
          </a:xfrm>
          <a:prstGeom prst="roundRect">
            <a:avLst>
              <a:gd name="adj" fmla="val 7692"/>
            </a:avLst>
          </a:prstGeom>
          <a:solidFill>
            <a:srgbClr val="1E8A5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90118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34640" y="490118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Precision &amp; Recall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223760" y="4901184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 — robust to imbalance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742432"/>
            <a:ext cx="210312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74243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34640" y="574243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separability across all thresholds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223760" y="574243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Threshold-independent big picture view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Cervical Cancer Risk Prediction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Combined clinical dataset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 result — 0 = Negative, 1 = Positive (cancer confirmed)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871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1,670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035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58568" y="242316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/>
          <p:nvPr/>
        </p:nvSpPr>
        <p:spPr>
          <a:xfrm>
            <a:off x="2258568" y="24871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58568" y="3035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68496" y="242316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/>
        </p:spPr>
      </p:sp>
      <p:sp>
        <p:nvSpPr>
          <p:cNvPr id="14" name="Text 12"/>
          <p:cNvSpPr/>
          <p:nvPr/>
        </p:nvSpPr>
        <p:spPr>
          <a:xfrm>
            <a:off x="3968496" y="24871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68496" y="3035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individual risk factors showed weak correlation with Biopsy (max 0.13) — no single dominant predictor; risk is genuinely multi-factorial, consistent with real oncology.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166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HIGHLIGHT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4 diagnostic test columns (Hinselmann, Schiller, Citology, Dx) — same-purpose tests as Biopsy that would leak the answer and aren't realistically available before screening.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440680" cy="2697480"/>
          </a:xfrm>
          <a:prstGeom prst="roundRect">
            <a:avLst>
              <a:gd name="adj" fmla="val 2712"/>
            </a:avLst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9224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0.952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92240" y="3145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8388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0.909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183880" y="3145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87552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0.996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875520" y="3145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3520440"/>
            <a:ext cx="484632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6118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caught 20 of 22 actual positive cases, with zero false alarms (0 false positives).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Cervical Cancer — Before vs After Tuning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across all 8 models, GridSearchCV hyperparameter tuning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064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806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and Gradient Boosting improved dramatically (0.16 to 0.93, 0.53 to 0.93). SVM's tuned version performed worse (0.404 vs 0.435) — baseline was kept for deployment. AdaBoost never recovers: no class_weight support means it can't handle the 93.5/6.5 imbalance.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IoTNet24 Intrusion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IoT network traffic captures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— 0 = Benign, 1 = Malicious traffic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871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6,130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035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58568" y="242316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/>
          <p:nvPr/>
        </p:nvSpPr>
        <p:spPr>
          <a:xfrm>
            <a:off x="2258568" y="24871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58568" y="3035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68496" y="242316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/>
        </p:spPr>
      </p:sp>
      <p:sp>
        <p:nvSpPr>
          <p:cNvPr id="14" name="Text 12"/>
          <p:cNvSpPr/>
          <p:nvPr/>
        </p:nvSpPr>
        <p:spPr>
          <a:xfrm>
            <a:off x="3968496" y="24871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91.7%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68496" y="3035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conn_state and protocol nearly perfectly separate the classes: SF (completed connection) was 100% benign; every incomplete/failed state was ~100% malicious.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166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HIGHLIGHT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15,324 duplicate rows after verifying label ratio matched the overall dataset — safe to drop, avoiding train/test leakage from identical repeated rows.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440680" cy="2697480"/>
          </a:xfrm>
          <a:prstGeom prst="roundRect">
            <a:avLst>
              <a:gd name="adj" fmla="val 2712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9224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92240" y="3145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8388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183880" y="3145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87552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875520" y="3145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3520440"/>
            <a:ext cx="484632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6118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confirmed destination port + protocol (59% combined) drive predictions — legitimate real-time signals, not leakage.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44805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DF2E9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6451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4919472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scores reflect only 23 total capture sessions (20 malicious, 3 benign) — may not generalize to novel real-world attack traffic.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IoTNet24 IDS — Before vs After Tuning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across all 8 models, GridSearchCV hyperparameter tuning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064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806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already performed strongly at baseline due to highly separable features. Tuning gave modest, consistent gains — notably SVM (0.982 to 0.995) — with no case where tuning hurt performance.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Disease Prediction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· 5 combined clinical sources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HeartDisease — 0 = Normal, 1 = Disease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871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035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58568" y="242316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/>
          <p:nvPr/>
        </p:nvSpPr>
        <p:spPr>
          <a:xfrm>
            <a:off x="2258568" y="24871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58568" y="3035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68496" y="242316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/>
        </p:spPr>
      </p:sp>
      <p:sp>
        <p:nvSpPr>
          <p:cNvPr id="14" name="Text 12"/>
          <p:cNvSpPr/>
          <p:nvPr/>
        </p:nvSpPr>
        <p:spPr>
          <a:xfrm>
            <a:off x="3968496" y="24871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55.3%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68496" y="3035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matched real cardiology knowledge: flat ST-slope and asymptomatic chest pain were the strongest risk indicators — both clinically validated patterns, not artifacts.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166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HIGHLIGHT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disguised missing values: 172 patients had Cholesterol = 0 (medically impossible) — converted to NaN and median-imputed rather than left as false measurements.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440680" cy="2697480"/>
          </a:xfrm>
          <a:prstGeom prst="roundRect">
            <a:avLst>
              <a:gd name="adj" fmla="val 2712"/>
            </a:avLst>
          </a:prstGeom>
          <a:solidFill>
            <a:srgbClr val="99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9224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0.903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92240" y="3145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8388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0.912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183880" y="3145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87552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0.928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875520" y="3145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3520440"/>
            <a:ext cx="484632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6118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also the one case where the BASELINE model beat its own tuned version (0.903 vs 0.889) — baseline kept for deployment.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44805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DF2E9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6451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4919472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near-balanced target (55/45) in the project — accuracy is reasonably trustworthy here, unlike the other three datasets.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Disease — Before vs After Tuning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across all 8 models, GridSearchCV hyperparameter tuning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064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806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Forest's tuned version underperformed baseline (0.889 vs 0.903) — baseline kept, still the overall best model. Decision Tree improved most (0.808 to 0.843) as tuning fixed clear overfitting via max_depth constraints.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FDA Adverse Drug Events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&amp; Cardiology medications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— 0 = No, 1 = Yes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871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6,130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035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58568" y="242316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/>
          <p:nvPr/>
        </p:nvSpPr>
        <p:spPr>
          <a:xfrm>
            <a:off x="2258568" y="24871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58568" y="3035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68496" y="242316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/>
        </p:spPr>
      </p:sp>
      <p:sp>
        <p:nvSpPr>
          <p:cNvPr id="14" name="Text 12"/>
          <p:cNvSpPr/>
          <p:nvPr/>
        </p:nvSpPr>
        <p:spPr>
          <a:xfrm>
            <a:off x="3968496" y="24871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21.4%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68496" y="3035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feature-target correlation was only 0.14 — far weaker than other datasets. Basic demographics/drug data alone carry limited signal for predicting fatality.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166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HIGHLIGHT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175 patient ages recorded in DAYS not years (e.g. 23,642 to 64.8 yrs) by detecting the unit error and dividing by 365, instead of discarding valid data.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440680" cy="2697480"/>
          </a:xfrm>
          <a:prstGeom prst="roundRect">
            <a:avLst>
              <a:gd name="adj" fmla="val 2712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9224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0.414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92240" y="3145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8388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0.626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183880" y="3145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87552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0.670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875520" y="3145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3520440"/>
            <a:ext cx="484632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6118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'Has_Death_Reaction' feature (98% predictive) as likely leakage — too conceptually close to restating the target itself.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44805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DF2E9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6451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4919472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F1 (~0.41) is an honest finding, not a pipeline failure: fatality outcomes depend on clinical factors (dosage, comorbidities) this dataset doesn't capture.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FDA Adverse Events — Before vs After Tuning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across all 8 models, GridSearchCV hyperparameter tuning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064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806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was rescued from severe overfitting by tuning (0.122 to 0.406). Even the best final model (Logistic Regression, F1=0.414) remains genuinely weak — reflecting real data limitations, not a modeling error.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— Streamlit Web App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32 models, scalers, and encoders served through one live, public prediction dashboard.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A3574"/>
          </a:solidFill>
          <a:ln/>
        </p:spPr>
      </p:sp>
      <p:sp>
        <p:nvSpPr>
          <p:cNvPr id="5" name="Shape 3"/>
          <p:cNvSpPr/>
          <p:nvPr/>
        </p:nvSpPr>
        <p:spPr>
          <a:xfrm>
            <a:off x="1481328" y="23317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481328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Dataset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of 4 classification tasks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54680" y="30175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74720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A3574"/>
          </a:solidFill>
          <a:ln/>
        </p:spPr>
      </p:sp>
      <p:sp>
        <p:nvSpPr>
          <p:cNvPr id="11" name="Shape 9"/>
          <p:cNvSpPr/>
          <p:nvPr/>
        </p:nvSpPr>
        <p:spPr>
          <a:xfrm>
            <a:off x="4407408" y="23317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4407408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11880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Model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3657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8 tuned algorithms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0760" y="30175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0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A3574"/>
          </a:solidFill>
          <a:ln/>
        </p:spPr>
      </p:sp>
      <p:sp>
        <p:nvSpPr>
          <p:cNvPr id="17" name="Shape 15"/>
          <p:cNvSpPr/>
          <p:nvPr/>
        </p:nvSpPr>
        <p:spPr>
          <a:xfrm>
            <a:off x="7333488" y="23317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7333488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537960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Inputs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3657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patient / connection 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06840" y="30175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326880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A357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59568" y="23317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10259568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464040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Prediction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64040" y="3657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+ probability, instantly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A3574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0749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scikit-learn, Streamlit, joblib for model persistence, GitHub for version control, Streamlit Community Cloud for free public hosting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5087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reflects data, not just algorithm choice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8745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IoTNet24 hit 99.9% F1 because features nearly separate the classes; FDA topped out at 41% because demographics alone don't determine drug fatality.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6791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force a worse tuned model into deployment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304495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 datasets had at least one case where GridSearchCV's optimal model underperformed its own baseline on the test set.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9534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84962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dangerous on imbalanced 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42153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scored 93% accuracy with F1 = 0 on Cervical Cancer — it simply never predicted the minority class.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06577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502005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judgment matters as much as modeling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538581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leakage (diagnostic tests), disguised missing values (Cholesterol=0), and unit errors (age in days) shaped every result.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2026-08-05T06:51:05Z</dcterms:created>
  <dcterms:modified xsi:type="dcterms:W3CDTF">2026-08-05T06:51:05Z</dcterms:modified>
</cp:coreProperties>
</file>